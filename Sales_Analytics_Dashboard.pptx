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5" r:id="rId2"/>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4109A56-3689-4112-B8B6-C424BCDE71B4}" type="datetimeFigureOut">
              <a:rPr lang="en-IN" smtClean="0"/>
              <a:t>30-12-2025</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2EA254F7-ECB6-4F3E-880A-D703D3FA2F3B}" type="slidenum">
              <a:rPr lang="en-IN" smtClean="0"/>
              <a:t>‹#›</a:t>
            </a:fld>
            <a:endParaRPr lang="en-IN"/>
          </a:p>
        </p:txBody>
      </p:sp>
    </p:spTree>
    <p:extLst>
      <p:ext uri="{BB962C8B-B14F-4D97-AF65-F5344CB8AC3E}">
        <p14:creationId xmlns:p14="http://schemas.microsoft.com/office/powerpoint/2010/main" val="619885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09A56-3689-4112-B8B6-C424BCDE71B4}" type="datetimeFigureOut">
              <a:rPr lang="en-IN" smtClean="0"/>
              <a:t>30-12-2025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1576982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4109A56-3689-4112-B8B6-C424BCDE71B4}" type="datetimeFigureOut">
              <a:rPr lang="en-IN" smtClean="0"/>
              <a:t>30-12-2025</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EA254F7-ECB6-4F3E-880A-D703D3FA2F3B}" type="slidenum">
              <a:rPr lang="en-IN" smtClean="0"/>
              <a:t>‹#›</a:t>
            </a:fld>
            <a:endParaRPr lang="en-IN"/>
          </a:p>
        </p:txBody>
      </p:sp>
    </p:spTree>
    <p:extLst>
      <p:ext uri="{BB962C8B-B14F-4D97-AF65-F5344CB8AC3E}">
        <p14:creationId xmlns:p14="http://schemas.microsoft.com/office/powerpoint/2010/main" val="255538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109A56-3689-4112-B8B6-C424BCDE71B4}" type="datetimeFigureOut">
              <a:rPr lang="en-IN" smtClean="0"/>
              <a:t>30-12-2025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1697198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109A56-3689-4112-B8B6-C424BCDE71B4}" type="datetimeFigureOut">
              <a:rPr lang="en-IN" smtClean="0"/>
              <a:t>30-12-2025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1378156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109A56-3689-4112-B8B6-C424BCDE71B4}" type="datetimeFigureOut">
              <a:rPr lang="en-IN" smtClean="0"/>
              <a:t>30-12-2025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156289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109A56-3689-4112-B8B6-C424BCDE71B4}" type="datetimeFigureOut">
              <a:rPr lang="en-IN" smtClean="0"/>
              <a:t>30-12-2025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3242261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4109A56-3689-4112-B8B6-C424BCDE71B4}" type="datetimeFigureOut">
              <a:rPr lang="en-IN" smtClean="0"/>
              <a:t>30-12-2025</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EA254F7-ECB6-4F3E-880A-D703D3FA2F3B}" type="slidenum">
              <a:rPr lang="en-IN" smtClean="0"/>
              <a:t>‹#›</a:t>
            </a:fld>
            <a:endParaRPr lang="en-IN"/>
          </a:p>
        </p:txBody>
      </p:sp>
    </p:spTree>
    <p:extLst>
      <p:ext uri="{BB962C8B-B14F-4D97-AF65-F5344CB8AC3E}">
        <p14:creationId xmlns:p14="http://schemas.microsoft.com/office/powerpoint/2010/main" val="1629460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109A56-3689-4112-B8B6-C424BCDE71B4}" type="datetimeFigureOut">
              <a:rPr lang="en-IN" smtClean="0"/>
              <a:t>30-12-2025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2204438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09A56-3689-4112-B8B6-C424BCDE71B4}" type="datetimeFigureOut">
              <a:rPr lang="en-IN" smtClean="0"/>
              <a:t>30-12-2025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EA254F7-ECB6-4F3E-880A-D703D3FA2F3B}" type="slidenum">
              <a:rPr lang="en-IN" smtClean="0"/>
              <a:t>‹#›</a:t>
            </a:fld>
            <a:endParaRPr lang="en-IN"/>
          </a:p>
        </p:txBody>
      </p:sp>
    </p:spTree>
    <p:extLst>
      <p:ext uri="{BB962C8B-B14F-4D97-AF65-F5344CB8AC3E}">
        <p14:creationId xmlns:p14="http://schemas.microsoft.com/office/powerpoint/2010/main" val="3732822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4109A56-3689-4112-B8B6-C424BCDE71B4}" type="datetimeFigureOut">
              <a:rPr lang="en-IN" smtClean="0"/>
              <a:t>30-12-2025</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2EA254F7-ECB6-4F3E-880A-D703D3FA2F3B}" type="slidenum">
              <a:rPr lang="en-IN" smtClean="0"/>
              <a:t>‹#›</a:t>
            </a:fld>
            <a:endParaRPr lang="en-IN"/>
          </a:p>
        </p:txBody>
      </p:sp>
    </p:spTree>
    <p:extLst>
      <p:ext uri="{BB962C8B-B14F-4D97-AF65-F5344CB8AC3E}">
        <p14:creationId xmlns:p14="http://schemas.microsoft.com/office/powerpoint/2010/main" val="218471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109A56-3689-4112-B8B6-C424BCDE71B4}" type="datetimeFigureOut">
              <a:rPr lang="en-IN" smtClean="0"/>
              <a:t>30-12-2025</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2EA254F7-ECB6-4F3E-880A-D703D3FA2F3B}"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259308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34D88E-8136-747F-6E82-3D4ED8F994EC}"/>
              </a:ext>
            </a:extLst>
          </p:cNvPr>
          <p:cNvSpPr txBox="1"/>
          <p:nvPr/>
        </p:nvSpPr>
        <p:spPr>
          <a:xfrm>
            <a:off x="1278194" y="2103103"/>
            <a:ext cx="9468465" cy="1323439"/>
          </a:xfrm>
          <a:prstGeom prst="rect">
            <a:avLst/>
          </a:prstGeom>
          <a:noFill/>
        </p:spPr>
        <p:txBody>
          <a:bodyPr wrap="square" rtlCol="0">
            <a:spAutoFit/>
          </a:bodyPr>
          <a:lstStyle/>
          <a:p>
            <a:r>
              <a:rPr lang="en-US" sz="4000" b="1" dirty="0"/>
              <a:t>Northwind Traders Analytic Dashboard</a:t>
            </a:r>
            <a:br>
              <a:rPr lang="en-US" sz="4000" dirty="0"/>
            </a:br>
            <a:r>
              <a:rPr lang="en-US" sz="4000" dirty="0"/>
              <a:t>	</a:t>
            </a:r>
            <a:endParaRPr lang="en-IN" sz="4000" dirty="0"/>
          </a:p>
        </p:txBody>
      </p:sp>
      <p:sp>
        <p:nvSpPr>
          <p:cNvPr id="5" name="TextBox 4">
            <a:extLst>
              <a:ext uri="{FF2B5EF4-FFF2-40B4-BE49-F238E27FC236}">
                <a16:creationId xmlns:a16="http://schemas.microsoft.com/office/drawing/2014/main" id="{7DF9501A-C0CA-8858-DACD-BB6874D4FE00}"/>
              </a:ext>
            </a:extLst>
          </p:cNvPr>
          <p:cNvSpPr txBox="1"/>
          <p:nvPr/>
        </p:nvSpPr>
        <p:spPr>
          <a:xfrm>
            <a:off x="3647768" y="2901139"/>
            <a:ext cx="4463845" cy="369332"/>
          </a:xfrm>
          <a:prstGeom prst="rect">
            <a:avLst/>
          </a:prstGeom>
          <a:noFill/>
        </p:spPr>
        <p:txBody>
          <a:bodyPr wrap="square" rtlCol="0">
            <a:spAutoFit/>
          </a:bodyPr>
          <a:lstStyle/>
          <a:p>
            <a:r>
              <a:rPr lang="en-US" i="1"/>
              <a:t>Interactive Power BI Report for Business Insights</a:t>
            </a:r>
            <a:endParaRPr lang="en-IN" dirty="0"/>
          </a:p>
        </p:txBody>
      </p:sp>
      <p:sp>
        <p:nvSpPr>
          <p:cNvPr id="6" name="TextBox 5">
            <a:extLst>
              <a:ext uri="{FF2B5EF4-FFF2-40B4-BE49-F238E27FC236}">
                <a16:creationId xmlns:a16="http://schemas.microsoft.com/office/drawing/2014/main" id="{0584A6B0-66A6-5244-9FCE-5B0B916AEC38}"/>
              </a:ext>
            </a:extLst>
          </p:cNvPr>
          <p:cNvSpPr txBox="1"/>
          <p:nvPr/>
        </p:nvSpPr>
        <p:spPr>
          <a:xfrm>
            <a:off x="8701549" y="5619135"/>
            <a:ext cx="3814916" cy="461665"/>
          </a:xfrm>
          <a:prstGeom prst="rect">
            <a:avLst/>
          </a:prstGeom>
          <a:noFill/>
        </p:spPr>
        <p:txBody>
          <a:bodyPr wrap="square" rtlCol="0">
            <a:spAutoFit/>
          </a:bodyPr>
          <a:lstStyle/>
          <a:p>
            <a:r>
              <a:rPr lang="en-IN" sz="2400" dirty="0"/>
              <a:t>Prepared by: Kamaraj E</a:t>
            </a:r>
          </a:p>
        </p:txBody>
      </p:sp>
    </p:spTree>
    <p:extLst>
      <p:ext uri="{BB962C8B-B14F-4D97-AF65-F5344CB8AC3E}">
        <p14:creationId xmlns:p14="http://schemas.microsoft.com/office/powerpoint/2010/main" val="3119173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A9BA-9BEA-09D3-22B3-A9D3E6AB2D6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4BF254C-6F6B-5B47-B04D-3477A705F3CA}"/>
              </a:ext>
            </a:extLst>
          </p:cNvPr>
          <p:cNvSpPr>
            <a:spLocks noGrp="1"/>
          </p:cNvSpPr>
          <p:nvPr>
            <p:ph type="subTitle" idx="1"/>
          </p:nvPr>
        </p:nvSpPr>
        <p:spPr/>
        <p:txBody>
          <a:bodyPr/>
          <a:lstStyle/>
          <a:p>
            <a:endParaRPr lang="en-IN"/>
          </a:p>
        </p:txBody>
      </p:sp>
      <p:pic>
        <p:nvPicPr>
          <p:cNvPr id="19" name="Picture 18" descr="A screenshot of a computer screen&#10;&#10;AI-generated content may be incorrect.">
            <a:extLst>
              <a:ext uri="{FF2B5EF4-FFF2-40B4-BE49-F238E27FC236}">
                <a16:creationId xmlns:a16="http://schemas.microsoft.com/office/drawing/2014/main" id="{C88E8D75-8CEE-8BEF-2F45-F166B80E4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02" y="85258"/>
            <a:ext cx="11974596" cy="6687483"/>
          </a:xfrm>
          <a:prstGeom prst="rect">
            <a:avLst/>
          </a:prstGeom>
        </p:spPr>
      </p:pic>
    </p:spTree>
    <p:extLst>
      <p:ext uri="{BB962C8B-B14F-4D97-AF65-F5344CB8AC3E}">
        <p14:creationId xmlns:p14="http://schemas.microsoft.com/office/powerpoint/2010/main" val="2728160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data analysis dashboard&#10;&#10;AI-generated content may be incorrect.">
            <a:extLst>
              <a:ext uri="{FF2B5EF4-FFF2-40B4-BE49-F238E27FC236}">
                <a16:creationId xmlns:a16="http://schemas.microsoft.com/office/drawing/2014/main" id="{37C01D69-25C3-D1FD-10EC-43BC3BA1D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54" y="61442"/>
            <a:ext cx="11936491" cy="6735115"/>
          </a:xfrm>
          <a:prstGeom prst="rect">
            <a:avLst/>
          </a:prstGeom>
        </p:spPr>
      </p:pic>
    </p:spTree>
    <p:extLst>
      <p:ext uri="{BB962C8B-B14F-4D97-AF65-F5344CB8AC3E}">
        <p14:creationId xmlns:p14="http://schemas.microsoft.com/office/powerpoint/2010/main" val="347463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data dashboard&#10;&#10;AI-generated content may be incorrect.">
            <a:extLst>
              <a:ext uri="{FF2B5EF4-FFF2-40B4-BE49-F238E27FC236}">
                <a16:creationId xmlns:a16="http://schemas.microsoft.com/office/drawing/2014/main" id="{1A231B66-8EEC-A67E-10DB-AFB160DC4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44" y="99548"/>
            <a:ext cx="11907912" cy="6658904"/>
          </a:xfrm>
          <a:prstGeom prst="rect">
            <a:avLst/>
          </a:prstGeom>
        </p:spPr>
      </p:pic>
    </p:spTree>
    <p:extLst>
      <p:ext uri="{BB962C8B-B14F-4D97-AF65-F5344CB8AC3E}">
        <p14:creationId xmlns:p14="http://schemas.microsoft.com/office/powerpoint/2010/main" val="2274371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data dashboard&#10;&#10;AI-generated content may be incorrect.">
            <a:extLst>
              <a:ext uri="{FF2B5EF4-FFF2-40B4-BE49-F238E27FC236}">
                <a16:creationId xmlns:a16="http://schemas.microsoft.com/office/drawing/2014/main" id="{00EFD54D-B78B-6911-B510-91C08D12B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49" y="70969"/>
            <a:ext cx="12012701" cy="6716062"/>
          </a:xfrm>
          <a:prstGeom prst="rect">
            <a:avLst/>
          </a:prstGeom>
        </p:spPr>
      </p:pic>
    </p:spTree>
    <p:extLst>
      <p:ext uri="{BB962C8B-B14F-4D97-AF65-F5344CB8AC3E}">
        <p14:creationId xmlns:p14="http://schemas.microsoft.com/office/powerpoint/2010/main" val="3722593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graph&#10;&#10;AI-generated content may be incorrect.">
            <a:extLst>
              <a:ext uri="{FF2B5EF4-FFF2-40B4-BE49-F238E27FC236}">
                <a16:creationId xmlns:a16="http://schemas.microsoft.com/office/drawing/2014/main" id="{7575FB74-C763-AD45-6603-3F2423276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465" y="56679"/>
            <a:ext cx="11965070" cy="6744641"/>
          </a:xfrm>
          <a:prstGeom prst="rect">
            <a:avLst/>
          </a:prstGeom>
        </p:spPr>
      </p:pic>
    </p:spTree>
    <p:extLst>
      <p:ext uri="{BB962C8B-B14F-4D97-AF65-F5344CB8AC3E}">
        <p14:creationId xmlns:p14="http://schemas.microsoft.com/office/powerpoint/2010/main" val="3417991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shipping dashboard&#10;&#10;AI-generated content may be incorrect.">
            <a:extLst>
              <a:ext uri="{FF2B5EF4-FFF2-40B4-BE49-F238E27FC236}">
                <a16:creationId xmlns:a16="http://schemas.microsoft.com/office/drawing/2014/main" id="{C0B05764-2089-9CB5-A769-54BD98BF48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780"/>
            <a:ext cx="12022228" cy="6773220"/>
          </a:xfrm>
          <a:prstGeom prst="rect">
            <a:avLst/>
          </a:prstGeom>
        </p:spPr>
      </p:pic>
    </p:spTree>
    <p:extLst>
      <p:ext uri="{BB962C8B-B14F-4D97-AF65-F5344CB8AC3E}">
        <p14:creationId xmlns:p14="http://schemas.microsoft.com/office/powerpoint/2010/main" val="4213581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9B1E5F-E9E3-7425-DC80-FA42D413724D}"/>
              </a:ext>
            </a:extLst>
          </p:cNvPr>
          <p:cNvSpPr txBox="1"/>
          <p:nvPr/>
        </p:nvSpPr>
        <p:spPr>
          <a:xfrm>
            <a:off x="294968" y="594479"/>
            <a:ext cx="11602064" cy="3139321"/>
          </a:xfrm>
          <a:prstGeom prst="rect">
            <a:avLst/>
          </a:prstGeom>
          <a:noFill/>
        </p:spPr>
        <p:txBody>
          <a:bodyPr wrap="square" rtlCol="0">
            <a:spAutoFit/>
          </a:bodyPr>
          <a:lstStyle/>
          <a:p>
            <a:r>
              <a:rPr lang="en-US" u="sng" dirty="0"/>
              <a:t>Sales Analysis Dashboard Insights</a:t>
            </a:r>
          </a:p>
          <a:p>
            <a:endParaRPr lang="en-US" dirty="0"/>
          </a:p>
          <a:p>
            <a:pPr marL="285750" indent="-285750">
              <a:buFont typeface="Wingdings" panose="05000000000000000000" pitchFamily="2" charset="2"/>
              <a:buChar char="q"/>
            </a:pPr>
            <a:r>
              <a:rPr lang="en-US" dirty="0"/>
              <a:t>	The sales dashboard shows the overall sales performance of the company. It displays total sales and average sales to understand how much revenue is generated. Total product orders and product count help understand how many products are being sold.</a:t>
            </a:r>
          </a:p>
          <a:p>
            <a:pPr marL="285750" indent="-285750">
              <a:buFont typeface="Wingdings" panose="05000000000000000000" pitchFamily="2" charset="2"/>
              <a:buChar char="q"/>
            </a:pPr>
            <a:r>
              <a:rPr lang="en-US" dirty="0"/>
              <a:t>	The dashboard shows the top 5 products by sales to identify the best-selling products and the bottom 5 products by sales to find products with low performance. Sales by product category helps understand which categories contribute more to sales. The monthly sales trend shows how sales change over time and helps identify high and low sales months.</a:t>
            </a:r>
          </a:p>
          <a:p>
            <a:pPr marL="285750" indent="-285750">
              <a:buFont typeface="Wingdings" panose="05000000000000000000" pitchFamily="2" charset="2"/>
              <a:buChar char="q"/>
            </a:pPr>
            <a:r>
              <a:rPr lang="en-US" dirty="0"/>
              <a:t>	Sales dashboard helps track sales performance and supports better business decisions.</a:t>
            </a:r>
          </a:p>
          <a:p>
            <a:endParaRPr lang="en-IN" dirty="0"/>
          </a:p>
        </p:txBody>
      </p:sp>
      <p:sp>
        <p:nvSpPr>
          <p:cNvPr id="3" name="TextBox 2">
            <a:extLst>
              <a:ext uri="{FF2B5EF4-FFF2-40B4-BE49-F238E27FC236}">
                <a16:creationId xmlns:a16="http://schemas.microsoft.com/office/drawing/2014/main" id="{7D17D7A7-B14D-B176-0719-B525275882DA}"/>
              </a:ext>
            </a:extLst>
          </p:cNvPr>
          <p:cNvSpPr txBox="1"/>
          <p:nvPr/>
        </p:nvSpPr>
        <p:spPr>
          <a:xfrm>
            <a:off x="314632" y="3429000"/>
            <a:ext cx="11877368" cy="2585323"/>
          </a:xfrm>
          <a:prstGeom prst="rect">
            <a:avLst/>
          </a:prstGeom>
          <a:noFill/>
        </p:spPr>
        <p:txBody>
          <a:bodyPr wrap="square" rtlCol="0">
            <a:spAutoFit/>
          </a:bodyPr>
          <a:lstStyle/>
          <a:p>
            <a:r>
              <a:rPr lang="en-US" u="sng" dirty="0"/>
              <a:t>Customer Segmentation Dashboard Insights</a:t>
            </a:r>
          </a:p>
          <a:p>
            <a:endParaRPr lang="en-US" u="sng" dirty="0"/>
          </a:p>
          <a:p>
            <a:pPr marL="285750" indent="-285750">
              <a:buFont typeface="Wingdings" panose="05000000000000000000" pitchFamily="2" charset="2"/>
              <a:buChar char="q"/>
            </a:pPr>
            <a:r>
              <a:rPr lang="en-US" dirty="0"/>
              <a:t>	This dashboard shows customer buying behavior. Average order value shows how much a customer spends per order. Order frequency shows how often customers place orders.</a:t>
            </a:r>
          </a:p>
          <a:p>
            <a:pPr marL="285750" indent="-285750">
              <a:buFont typeface="Wingdings" panose="05000000000000000000" pitchFamily="2" charset="2"/>
              <a:buChar char="q"/>
            </a:pPr>
            <a:r>
              <a:rPr lang="en-US" dirty="0"/>
              <a:t>	Sales by customer segment (low, medium, and high value) shows which group of customers contributes more to sales. Order count by country shows which countries place more orders.</a:t>
            </a:r>
          </a:p>
          <a:p>
            <a:pPr marL="285750" indent="-285750">
              <a:buFont typeface="Wingdings" panose="05000000000000000000" pitchFamily="2" charset="2"/>
              <a:buChar char="q"/>
            </a:pPr>
            <a:r>
              <a:rPr lang="en-US" dirty="0"/>
              <a:t>	The customer table shows the customer contact name, total sales made by each customer. This helps identify important customers and understand their contribution to overall sales</a:t>
            </a:r>
          </a:p>
          <a:p>
            <a:endParaRPr lang="en-IN" dirty="0"/>
          </a:p>
        </p:txBody>
      </p:sp>
    </p:spTree>
    <p:extLst>
      <p:ext uri="{BB962C8B-B14F-4D97-AF65-F5344CB8AC3E}">
        <p14:creationId xmlns:p14="http://schemas.microsoft.com/office/powerpoint/2010/main" val="601261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714532-0618-0AB8-5053-457B338743C4}"/>
              </a:ext>
            </a:extLst>
          </p:cNvPr>
          <p:cNvSpPr txBox="1"/>
          <p:nvPr/>
        </p:nvSpPr>
        <p:spPr>
          <a:xfrm>
            <a:off x="196645" y="526588"/>
            <a:ext cx="11670890" cy="2585323"/>
          </a:xfrm>
          <a:prstGeom prst="rect">
            <a:avLst/>
          </a:prstGeom>
          <a:noFill/>
        </p:spPr>
        <p:txBody>
          <a:bodyPr wrap="square" rtlCol="0">
            <a:spAutoFit/>
          </a:bodyPr>
          <a:lstStyle/>
          <a:p>
            <a:r>
              <a:rPr lang="en-IN" u="sng" dirty="0"/>
              <a:t>Inventory Analysis Dashboard Insights</a:t>
            </a:r>
          </a:p>
          <a:p>
            <a:endParaRPr lang="en-US" u="sng" dirty="0"/>
          </a:p>
          <a:p>
            <a:pPr marL="285750" indent="-285750">
              <a:buFont typeface="Wingdings" panose="05000000000000000000" pitchFamily="2" charset="2"/>
              <a:buChar char="q"/>
            </a:pPr>
            <a:r>
              <a:rPr lang="en-US" dirty="0"/>
              <a:t>	This dashboard shows how much stock is available for different products and categories. It helps see which categories have more stock.</a:t>
            </a:r>
          </a:p>
          <a:p>
            <a:pPr marL="285750" indent="-285750">
              <a:buFont typeface="Wingdings" panose="05000000000000000000" pitchFamily="2" charset="2"/>
              <a:buChar char="q"/>
            </a:pPr>
            <a:r>
              <a:rPr lang="en-US" dirty="0"/>
              <a:t>	The stock and sales comparison shows which products are selling well and which have low demand.	</a:t>
            </a:r>
          </a:p>
          <a:p>
            <a:pPr marL="285750" indent="-285750">
              <a:buFont typeface="Wingdings" panose="05000000000000000000" pitchFamily="2" charset="2"/>
              <a:buChar char="q"/>
            </a:pPr>
            <a:r>
              <a:rPr lang="en-US" dirty="0"/>
              <a:t>	The product table shows stock quantity and reorder levels, helping to know when products need to be reordered.</a:t>
            </a:r>
          </a:p>
          <a:p>
            <a:pPr marL="285750" indent="-285750">
              <a:buFont typeface="Wingdings" panose="05000000000000000000" pitchFamily="2" charset="2"/>
              <a:buChar char="q"/>
            </a:pPr>
            <a:r>
              <a:rPr lang="en-US" dirty="0"/>
              <a:t>	The dashboard also shows how many products are discontinued and how well the stock is being used.</a:t>
            </a:r>
          </a:p>
          <a:p>
            <a:pPr marL="285750" indent="-285750">
              <a:buFont typeface="Wingdings" panose="05000000000000000000" pitchFamily="2" charset="2"/>
              <a:buChar char="q"/>
            </a:pPr>
            <a:endParaRPr lang="en-IN" dirty="0"/>
          </a:p>
        </p:txBody>
      </p:sp>
      <p:sp>
        <p:nvSpPr>
          <p:cNvPr id="3" name="TextBox 2">
            <a:extLst>
              <a:ext uri="{FF2B5EF4-FFF2-40B4-BE49-F238E27FC236}">
                <a16:creationId xmlns:a16="http://schemas.microsoft.com/office/drawing/2014/main" id="{454ADEFA-5E5E-E18E-B333-B39C110599D5}"/>
              </a:ext>
            </a:extLst>
          </p:cNvPr>
          <p:cNvSpPr txBox="1"/>
          <p:nvPr/>
        </p:nvSpPr>
        <p:spPr>
          <a:xfrm>
            <a:off x="196645" y="2526331"/>
            <a:ext cx="11434916" cy="2031325"/>
          </a:xfrm>
          <a:prstGeom prst="rect">
            <a:avLst/>
          </a:prstGeom>
          <a:noFill/>
        </p:spPr>
        <p:txBody>
          <a:bodyPr wrap="square" rtlCol="0">
            <a:spAutoFit/>
          </a:bodyPr>
          <a:lstStyle/>
          <a:p>
            <a:r>
              <a:rPr lang="en-US" u="sng" dirty="0"/>
              <a:t>Employee Performance Dashboard Insights</a:t>
            </a:r>
          </a:p>
          <a:p>
            <a:endParaRPr lang="en-US" u="sng" dirty="0"/>
          </a:p>
          <a:p>
            <a:pPr marL="285750" indent="-285750">
              <a:buFont typeface="Wingdings" panose="05000000000000000000" pitchFamily="2" charset="2"/>
              <a:buChar char="q"/>
            </a:pPr>
            <a:r>
              <a:rPr lang="en-US" dirty="0"/>
              <a:t>	This dashboard shows how much sales each employee makes. Average sales by employee shows the typical sales value. Sales by employee helps identify top-performing and low-performing employees. Sales by country shows how employees contribute in different regions.</a:t>
            </a:r>
          </a:p>
          <a:p>
            <a:pPr marL="285750" indent="-285750">
              <a:buFont typeface="Wingdings" panose="05000000000000000000" pitchFamily="2" charset="2"/>
              <a:buChar char="q"/>
            </a:pPr>
            <a:r>
              <a:rPr lang="en-US" dirty="0"/>
              <a:t>	The sales trend shows how employee sales change over time. The employee table shows each employee’s total sales, number of orders, and average order value.</a:t>
            </a:r>
          </a:p>
        </p:txBody>
      </p:sp>
      <p:sp>
        <p:nvSpPr>
          <p:cNvPr id="4" name="TextBox 3">
            <a:extLst>
              <a:ext uri="{FF2B5EF4-FFF2-40B4-BE49-F238E27FC236}">
                <a16:creationId xmlns:a16="http://schemas.microsoft.com/office/drawing/2014/main" id="{2E19ED99-D490-96B1-44B9-2C013F04778E}"/>
              </a:ext>
            </a:extLst>
          </p:cNvPr>
          <p:cNvSpPr txBox="1"/>
          <p:nvPr/>
        </p:nvSpPr>
        <p:spPr>
          <a:xfrm>
            <a:off x="265471" y="4660491"/>
            <a:ext cx="11602064" cy="2308324"/>
          </a:xfrm>
          <a:prstGeom prst="rect">
            <a:avLst/>
          </a:prstGeom>
          <a:noFill/>
        </p:spPr>
        <p:txBody>
          <a:bodyPr wrap="square" rtlCol="0">
            <a:spAutoFit/>
          </a:bodyPr>
          <a:lstStyle/>
          <a:p>
            <a:r>
              <a:rPr lang="en-US" u="sng" dirty="0"/>
              <a:t>Shipping Dashboard Insights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	This dashboard shows shipping cost and delivery time. Average shipping days shows how long delivery usually takes.</a:t>
            </a:r>
          </a:p>
          <a:p>
            <a:pPr marL="285750" indent="-285750">
              <a:buFont typeface="Wingdings" panose="05000000000000000000" pitchFamily="2" charset="2"/>
              <a:buChar char="q"/>
            </a:pPr>
            <a:r>
              <a:rPr lang="en-US" dirty="0"/>
              <a:t>	Average freight by ship name and ship mode shows which shipping options cost more. The freight trend shows how shipping cost changes over time.</a:t>
            </a:r>
          </a:p>
          <a:p>
            <a:pPr marL="285750" indent="-285750">
              <a:buFont typeface="Wingdings" panose="05000000000000000000" pitchFamily="2" charset="2"/>
              <a:buChar char="q"/>
            </a:pPr>
            <a:r>
              <a:rPr lang="en-US" dirty="0"/>
              <a:t>	Shipments by country show where orders are being delivered. Delivery status shows that most orders are delivered on time.</a:t>
            </a:r>
          </a:p>
        </p:txBody>
      </p:sp>
    </p:spTree>
    <p:extLst>
      <p:ext uri="{BB962C8B-B14F-4D97-AF65-F5344CB8AC3E}">
        <p14:creationId xmlns:p14="http://schemas.microsoft.com/office/powerpoint/2010/main" val="225043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6300A-5871-0571-FDE3-624583223838}"/>
              </a:ext>
            </a:extLst>
          </p:cNvPr>
          <p:cNvSpPr txBox="1"/>
          <p:nvPr/>
        </p:nvSpPr>
        <p:spPr>
          <a:xfrm>
            <a:off x="4060722" y="2505670"/>
            <a:ext cx="4984955" cy="923330"/>
          </a:xfrm>
          <a:prstGeom prst="rect">
            <a:avLst/>
          </a:prstGeom>
          <a:noFill/>
        </p:spPr>
        <p:txBody>
          <a:bodyPr wrap="square" rtlCol="0">
            <a:spAutoFit/>
          </a:bodyPr>
          <a:lstStyle/>
          <a:p>
            <a:r>
              <a:rPr lang="en-IN" sz="5400" dirty="0">
                <a:latin typeface="Segoe UI Symbol" panose="020B0502040204020203" pitchFamily="34" charset="0"/>
                <a:ea typeface="Segoe UI Symbol" panose="020B0502040204020203" pitchFamily="34" charset="0"/>
              </a:rPr>
              <a:t>Thank You</a:t>
            </a:r>
          </a:p>
        </p:txBody>
      </p:sp>
    </p:spTree>
    <p:extLst>
      <p:ext uri="{BB962C8B-B14F-4D97-AF65-F5344CB8AC3E}">
        <p14:creationId xmlns:p14="http://schemas.microsoft.com/office/powerpoint/2010/main" val="150938514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40</TotalTime>
  <Words>473</Words>
  <Application>Microsoft Office PowerPoint</Application>
  <PresentationFormat>Widescreen</PresentationFormat>
  <Paragraphs>29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Gill Sans MT</vt:lpstr>
      <vt:lpstr>Segoe UI Symbol</vt:lpstr>
      <vt:lpstr>Wingdings</vt:lpstr>
      <vt:lpstr>Wingdings 2</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Kamaraj Elaiyaraja</dc:creator>
  <cp:lastModifiedBy>Kamaraj Elaiyaraja</cp:lastModifiedBy>
  <cp:revision>3</cp:revision>
  <dcterms:created xsi:type="dcterms:W3CDTF">2025-12-30T08:41:02Z</dcterms:created>
  <dcterms:modified xsi:type="dcterms:W3CDTF">2025-12-30T12:03:57Z</dcterms:modified>
</cp:coreProperties>
</file>